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nva Sans Bold" charset="1" panose="020B0803030501040103"/>
      <p:regular r:id="rId20"/>
    </p:embeddedFont>
    <p:embeddedFont>
      <p:font typeface="Canva Sans Medium" charset="1" panose="020B0603030501040103"/>
      <p:regular r:id="rId21"/>
    </p:embeddedFont>
    <p:embeddedFont>
      <p:font typeface="Canva Sans" charset="1" panose="020B0503030501040103"/>
      <p:regular r:id="rId22"/>
    </p:embeddedFont>
    <p:embeddedFont>
      <p:font typeface="Muli Bold" charset="1" panose="00000800000000000000"/>
      <p:regular r:id="rId23"/>
    </p:embeddedFont>
    <p:embeddedFont>
      <p:font typeface="Muli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name="Group 35" id="35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3" id="53"/>
          <p:cNvGrpSpPr/>
          <p:nvPr/>
        </p:nvGrpSpPr>
        <p:grpSpPr>
          <a:xfrm rot="0">
            <a:off x="-1957407" y="-931287"/>
            <a:ext cx="7442351" cy="7080653"/>
            <a:chOff x="0" y="0"/>
            <a:chExt cx="9923135" cy="9440871"/>
          </a:xfrm>
        </p:grpSpPr>
        <p:grpSp>
          <p:nvGrpSpPr>
            <p:cNvPr name="Group 54" id="54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72" id="72"/>
          <p:cNvSpPr txBox="true"/>
          <p:nvPr/>
        </p:nvSpPr>
        <p:spPr>
          <a:xfrm rot="0">
            <a:off x="3908193" y="1693414"/>
            <a:ext cx="10847397" cy="163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74"/>
              </a:lnSpc>
            </a:pPr>
            <a:r>
              <a:rPr lang="en-US" b="true" sz="9553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RETINASENSE - AI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3908193" y="3550258"/>
            <a:ext cx="10847397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u="sng">
                <a:solidFill>
                  <a:srgbClr val="6B7A8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Intelligent Diabetic Retinopathy Detection System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317379" y="5105400"/>
            <a:ext cx="713654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6B7A8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MCA</a:t>
            </a:r>
            <a:r>
              <a:rPr lang="en-US" b="true" sz="3000">
                <a:solidFill>
                  <a:srgbClr val="6B7A8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Capstone Project : 2026–27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317379" y="4347183"/>
            <a:ext cx="713654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6B7A8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Department of</a:t>
            </a:r>
            <a:r>
              <a:rPr lang="en-US" b="true" sz="3000">
                <a:solidFill>
                  <a:srgbClr val="6B7A8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Computer Applications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232883" y="971550"/>
            <a:ext cx="302641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6B7A8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GLS</a:t>
            </a:r>
            <a:r>
              <a:rPr lang="en-US" b="true" sz="2500">
                <a:solidFill>
                  <a:srgbClr val="6B7A8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University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665253" y="7951483"/>
            <a:ext cx="678866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Guided by</a:t>
            </a:r>
            <a:r>
              <a:rPr lang="en-US" sz="3000" b="true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000">
                <a:solidFill>
                  <a:srgbClr val="6B7A8C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  <a:r>
              <a:rPr lang="en-US" sz="3000" b="true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DR. PRERNA AGRAWAL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85760" y="6909442"/>
            <a:ext cx="28794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6B7A8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Lathiya Harshal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593854" y="6909442"/>
            <a:ext cx="28794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6B7A8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Kothari Srusthi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7706560" y="6909442"/>
            <a:ext cx="28794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6B7A8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Koradiya Vidhi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814653" y="6909442"/>
            <a:ext cx="28794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6B7A8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Kotecha Vansh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3922746" y="6909442"/>
            <a:ext cx="222187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6B7A8C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Kalaria Jug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445903" y="6007421"/>
            <a:ext cx="287949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</a:t>
            </a:r>
            <a:r>
              <a:rPr lang="en-US" sz="3000" b="true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ped By :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34" id="34"/>
          <p:cNvSpPr txBox="true"/>
          <p:nvPr/>
        </p:nvSpPr>
        <p:spPr>
          <a:xfrm rot="0">
            <a:off x="2838803" y="885825"/>
            <a:ext cx="12610393" cy="129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0"/>
              </a:lnSpc>
            </a:pPr>
            <a:r>
              <a:rPr lang="en-US" b="true" sz="7593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</a:t>
            </a:r>
            <a:r>
              <a:rPr lang="en-US" b="true" sz="7593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RODUCTION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8624" y="2496948"/>
            <a:ext cx="16230600" cy="613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5" indent="-431797" lvl="1">
              <a:lnSpc>
                <a:spcPts val="6079"/>
              </a:lnSpc>
              <a:buFont typeface="Arial"/>
              <a:buChar char="•"/>
            </a:pPr>
            <a:r>
              <a:rPr lang="en-US" b="true" sz="3999" u="sng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Dia</a:t>
            </a:r>
            <a:r>
              <a:rPr lang="en-US" b="true" sz="3999" u="sng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betic Retinopathy?</a:t>
            </a:r>
          </a:p>
          <a:p>
            <a:pPr algn="l" marL="863595" indent="-431797" lvl="1">
              <a:lnSpc>
                <a:spcPts val="6079"/>
              </a:lnSpc>
              <a:buFont typeface="Arial"/>
              <a:buChar char="•"/>
            </a:pPr>
            <a:r>
              <a:rPr lang="en-US" sz="399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Diabetic Retinopathy (DR) is a diabetes-related eye condition in which elevated blood glucose can damage the blood vessels of the retina, the light-sensitive tissue at the back of the eye.</a:t>
            </a:r>
          </a:p>
          <a:p>
            <a:pPr algn="l">
              <a:lnSpc>
                <a:spcPts val="6079"/>
              </a:lnSpc>
            </a:pPr>
          </a:p>
          <a:p>
            <a:pPr algn="l" marL="863595" indent="-431797" lvl="1">
              <a:lnSpc>
                <a:spcPts val="6079"/>
              </a:lnSpc>
              <a:buFont typeface="Arial"/>
              <a:buChar char="•"/>
            </a:pPr>
            <a:r>
              <a:rPr lang="en-US" b="true" sz="3999" u="sng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system aims :</a:t>
            </a:r>
            <a:r>
              <a:rPr lang="en-US" b="true" sz="3999">
                <a:solidFill>
                  <a:srgbClr val="17415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 marL="863595" indent="-431797" lvl="1">
              <a:lnSpc>
                <a:spcPts val="6079"/>
              </a:lnSpc>
              <a:buFont typeface="Arial"/>
              <a:buChar char="•"/>
            </a:pPr>
            <a:r>
              <a:rPr lang="en-US" sz="3999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To classify retinal fundus images into predefined DR severity categories and provide an accompanying visual explanation.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7" id="37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7" id="47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34" id="34"/>
          <p:cNvSpPr txBox="true"/>
          <p:nvPr/>
        </p:nvSpPr>
        <p:spPr>
          <a:xfrm rot="0">
            <a:off x="2959812" y="876300"/>
            <a:ext cx="12368377" cy="129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DEFINITION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6" id="36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6" id="46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5" id="55"/>
          <p:cNvSpPr txBox="true"/>
          <p:nvPr/>
        </p:nvSpPr>
        <p:spPr>
          <a:xfrm rot="0">
            <a:off x="1028700" y="3685719"/>
            <a:ext cx="16230600" cy="527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1404" indent="-385702" lvl="1">
              <a:lnSpc>
                <a:spcPts val="6002"/>
              </a:lnSpc>
              <a:buFont typeface="Arial"/>
              <a:buChar char="•"/>
            </a:pPr>
            <a:r>
              <a:rPr lang="en-US" sz="3572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It is an Intelligent Diabetic Retinopathy Detection System is a proposed web-based AI application that analyzes retinal fundus photographs using computer vision and deep learning to classify dia</a:t>
            </a:r>
            <a:r>
              <a:rPr lang="en-US" sz="3572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betic retinopathy severity.</a:t>
            </a:r>
          </a:p>
          <a:p>
            <a:pPr algn="l" marL="771404" indent="-385702" lvl="1">
              <a:lnSpc>
                <a:spcPts val="6002"/>
              </a:lnSpc>
              <a:buFont typeface="Arial"/>
              <a:buChar char="•"/>
            </a:pPr>
            <a:r>
              <a:rPr lang="en-US" sz="3572">
                <a:solidFill>
                  <a:srgbClr val="17415F"/>
                </a:solidFill>
                <a:latin typeface="Canva Sans"/>
                <a:ea typeface="Canva Sans"/>
                <a:cs typeface="Canva Sans"/>
                <a:sym typeface="Canva Sans"/>
              </a:rPr>
              <a:t>The system combines image preprocessing, trained-model inference, probability outputs, and Grad-CAM-based visualization in one application.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28700" y="2779074"/>
            <a:ext cx="6660799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 u="sng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RETINASENSE AI?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219345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6021224" y="3475583"/>
            <a:ext cx="666998" cy="666998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021224" y="5713236"/>
            <a:ext cx="666998" cy="666998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60" id="60"/>
          <p:cNvGraphicFramePr>
            <a:graphicFrameLocks noGrp="true"/>
          </p:cNvGraphicFramePr>
          <p:nvPr/>
        </p:nvGraphicFramePr>
        <p:xfrm>
          <a:off x="13087439" y="2698707"/>
          <a:ext cx="4171861" cy="5556585"/>
        </p:xfrm>
        <a:graphic>
          <a:graphicData uri="http://schemas.openxmlformats.org/drawingml/2006/table">
            <a:tbl>
              <a:tblPr/>
              <a:tblGrid>
                <a:gridCol w="1433293"/>
                <a:gridCol w="2738568"/>
              </a:tblGrid>
              <a:tr h="9746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Class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63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No DR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63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Mild DR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63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Moderate DR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63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Severe DR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63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Proliferative DR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1" id="61"/>
          <p:cNvSpPr txBox="true"/>
          <p:nvPr/>
        </p:nvSpPr>
        <p:spPr>
          <a:xfrm rot="0">
            <a:off x="2498072" y="885825"/>
            <a:ext cx="13291856" cy="12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</a:t>
            </a:r>
            <a:r>
              <a:rPr lang="en-US" b="true" sz="700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PECTED INPUT &amp; OUTPUT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99428" y="2704953"/>
            <a:ext cx="9510589" cy="4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b="true" sz="2572" u="sng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 </a:t>
            </a:r>
            <a:r>
              <a:rPr lang="en-US" b="true" sz="2572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A retinal fundus image in a supported image format.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28700" y="6682744"/>
            <a:ext cx="11319044" cy="182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0"/>
              </a:lnSpc>
            </a:pPr>
            <a:r>
              <a:rPr lang="en-US" b="true" sz="2586" u="sng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Expected Output</a:t>
            </a:r>
            <a:r>
              <a:rPr lang="en-US" sz="2586" b="true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586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A retinal fundus image in a supported image format</a:t>
            </a:r>
          </a:p>
          <a:p>
            <a:pPr algn="l" marL="558371" indent="-279185" lvl="1">
              <a:lnSpc>
                <a:spcPts val="3620"/>
              </a:lnSpc>
              <a:buFont typeface="Arial"/>
              <a:buChar char="•"/>
            </a:pPr>
            <a:r>
              <a:rPr lang="en-US" b="true" sz="2586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Predicted DR severity category</a:t>
            </a:r>
          </a:p>
          <a:p>
            <a:pPr algn="l" marL="558371" indent="-279185" lvl="1">
              <a:lnSpc>
                <a:spcPts val="3620"/>
              </a:lnSpc>
              <a:buFont typeface="Arial"/>
              <a:buChar char="•"/>
            </a:pPr>
            <a:r>
              <a:rPr lang="en-US" b="true" sz="2586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 probabilities and confidence information</a:t>
            </a:r>
          </a:p>
          <a:p>
            <a:pPr algn="l" marL="558371" indent="-279185" lvl="1">
              <a:lnSpc>
                <a:spcPts val="3620"/>
              </a:lnSpc>
              <a:buFont typeface="Arial"/>
              <a:buChar char="•"/>
            </a:pPr>
            <a:r>
              <a:rPr lang="en-US" b="true" sz="2586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Grad-CAM heatmap and overlay visualization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700" y="4447381"/>
            <a:ext cx="11319044" cy="906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2572" b="true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</a:t>
            </a:r>
            <a:r>
              <a:rPr lang="en-US" b="true" sz="2572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 Learning + Explainable AI</a:t>
            </a:r>
          </a:p>
          <a:p>
            <a:pPr algn="ctr">
              <a:lnSpc>
                <a:spcPts val="3602"/>
              </a:lnSpc>
            </a:pPr>
            <a:r>
              <a:rPr lang="en-US" b="true" sz="2572">
                <a:solidFill>
                  <a:srgbClr val="6B7A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Image preprocessing, severity prediction and Grad-CAM generation</a:t>
            </a:r>
          </a:p>
        </p:txBody>
      </p:sp>
      <p:grpSp>
        <p:nvGrpSpPr>
          <p:cNvPr name="Group 65" id="65"/>
          <p:cNvGrpSpPr/>
          <p:nvPr/>
        </p:nvGrpSpPr>
        <p:grpSpPr>
          <a:xfrm rot="-5400000">
            <a:off x="12347744" y="7588293"/>
            <a:ext cx="666998" cy="666998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75740" y="3145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34" id="34"/>
          <p:cNvSpPr txBox="true"/>
          <p:nvPr/>
        </p:nvSpPr>
        <p:spPr>
          <a:xfrm rot="0">
            <a:off x="3300365" y="885825"/>
            <a:ext cx="11781216" cy="12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PROF</a:t>
            </a:r>
            <a:r>
              <a:rPr lang="en-US" b="true" sz="700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6" id="36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6" id="46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aphicFrame>
        <p:nvGraphicFramePr>
          <p:cNvPr name="Table 55" id="55"/>
          <p:cNvGraphicFramePr>
            <a:graphicFrameLocks noGrp="true"/>
          </p:cNvGraphicFramePr>
          <p:nvPr/>
        </p:nvGraphicFramePr>
        <p:xfrm>
          <a:off x="1573701" y="2391539"/>
          <a:ext cx="15046653" cy="6238875"/>
        </p:xfrm>
        <a:graphic>
          <a:graphicData uri="http://schemas.openxmlformats.org/drawingml/2006/table">
            <a:tbl>
              <a:tblPr/>
              <a:tblGrid>
                <a:gridCol w="5071524"/>
                <a:gridCol w="9975129"/>
              </a:tblGrid>
              <a:tr h="9487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Project 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RetinaSense AI – Intelligent Diabetic Retinopathy Detection 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6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Project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Capstone Project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6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Domain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AI / 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6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Subdomain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Medical Image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6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Application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Web-Based AI Digital Platform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6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Primary Input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Retinal fundus photograph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6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Explainability Approach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Grad-CAM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aphicFrame>
        <p:nvGraphicFramePr>
          <p:cNvPr name="Table 54" id="54"/>
          <p:cNvGraphicFramePr>
            <a:graphicFrameLocks noGrp="true"/>
          </p:cNvGraphicFramePr>
          <p:nvPr/>
        </p:nvGraphicFramePr>
        <p:xfrm>
          <a:off x="2082584" y="2829689"/>
          <a:ext cx="14122832" cy="5486400"/>
        </p:xfrm>
        <a:graphic>
          <a:graphicData uri="http://schemas.openxmlformats.org/drawingml/2006/table">
            <a:tbl>
              <a:tblPr/>
              <a:tblGrid>
                <a:gridCol w="5180524"/>
                <a:gridCol w="8942308"/>
              </a:tblGrid>
              <a:tr h="13620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AI and Deep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AI and Deep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Frontend Development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React.js,Tailwind CSS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Backend Development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Python, FastAPI, REST APIs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Database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PostgreSQL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20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Development &amp; Testing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Git, GitHub, Postman, 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VS Code, Jupyter Notebook,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5" id="55"/>
          <p:cNvSpPr txBox="true"/>
          <p:nvPr/>
        </p:nvSpPr>
        <p:spPr>
          <a:xfrm rot="0">
            <a:off x="2082584" y="990835"/>
            <a:ext cx="14122832" cy="12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&amp; TECHNOLOGIES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56201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4" id="54"/>
          <p:cNvSpPr/>
          <p:nvPr/>
        </p:nvSpPr>
        <p:spPr>
          <a:xfrm flipH="false" flipV="false" rot="0">
            <a:off x="1907888" y="3057756"/>
            <a:ext cx="14025981" cy="6200544"/>
          </a:xfrm>
          <a:custGeom>
            <a:avLst/>
            <a:gdLst/>
            <a:ahLst/>
            <a:cxnLst/>
            <a:rect r="r" b="b" t="t" l="l"/>
            <a:pathLst>
              <a:path h="6200544" w="14025981">
                <a:moveTo>
                  <a:pt x="0" y="0"/>
                </a:moveTo>
                <a:lnTo>
                  <a:pt x="14025982" y="0"/>
                </a:lnTo>
                <a:lnTo>
                  <a:pt x="14025982" y="6200544"/>
                </a:lnTo>
                <a:lnTo>
                  <a:pt x="0" y="6200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983" r="0" b="-21574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2082584" y="866775"/>
            <a:ext cx="14122832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MODULES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753400" y="7411840"/>
            <a:ext cx="2493908" cy="140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</a:pPr>
            <a:r>
              <a:rPr lang="en-US" b="true" sz="4055" u="sng">
                <a:solidFill>
                  <a:srgbClr val="3B4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Admin</a:t>
            </a:r>
          </a:p>
          <a:p>
            <a:pPr algn="ctr">
              <a:lnSpc>
                <a:spcPts val="5677"/>
              </a:lnSpc>
            </a:pPr>
            <a:r>
              <a:rPr lang="en-US" b="true" sz="4055" u="sng">
                <a:solidFill>
                  <a:srgbClr val="3B4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771480" y="7411840"/>
            <a:ext cx="2188584" cy="140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</a:pPr>
            <a:r>
              <a:rPr lang="en-US" b="true" sz="4055" u="sng">
                <a:solidFill>
                  <a:srgbClr val="3B4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</a:t>
            </a:r>
          </a:p>
          <a:p>
            <a:pPr algn="ctr">
              <a:lnSpc>
                <a:spcPts val="5677"/>
              </a:lnSpc>
            </a:pPr>
            <a:r>
              <a:rPr lang="en-US" b="true" sz="4055" u="sng">
                <a:solidFill>
                  <a:srgbClr val="3B4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484189" y="7411840"/>
            <a:ext cx="2940150" cy="140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</a:pPr>
            <a:r>
              <a:rPr lang="en-US" b="true" sz="4055" u="sng">
                <a:solidFill>
                  <a:srgbClr val="3B4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Radiologist Module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953271" y="3406688"/>
            <a:ext cx="382500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u="sng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RetinaSense  AI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2" id="42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1" id="51"/>
          <p:cNvSpPr/>
          <p:nvPr/>
        </p:nvSpPr>
        <p:spPr>
          <a:xfrm flipH="false" flipV="false" rot="0">
            <a:off x="998776" y="4162314"/>
            <a:ext cx="5412184" cy="3599103"/>
          </a:xfrm>
          <a:custGeom>
            <a:avLst/>
            <a:gdLst/>
            <a:ahLst/>
            <a:cxnLst/>
            <a:rect r="r" b="b" t="t" l="l"/>
            <a:pathLst>
              <a:path h="3599103" w="5412184">
                <a:moveTo>
                  <a:pt x="0" y="0"/>
                </a:moveTo>
                <a:lnTo>
                  <a:pt x="5412185" y="0"/>
                </a:lnTo>
                <a:lnTo>
                  <a:pt x="5412185" y="3599102"/>
                </a:lnTo>
                <a:lnTo>
                  <a:pt x="0" y="35991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6434931" y="4162314"/>
            <a:ext cx="5412184" cy="3599103"/>
          </a:xfrm>
          <a:custGeom>
            <a:avLst/>
            <a:gdLst/>
            <a:ahLst/>
            <a:cxnLst/>
            <a:rect r="r" b="b" t="t" l="l"/>
            <a:pathLst>
              <a:path h="3599103" w="5412184">
                <a:moveTo>
                  <a:pt x="0" y="0"/>
                </a:moveTo>
                <a:lnTo>
                  <a:pt x="5412185" y="0"/>
                </a:lnTo>
                <a:lnTo>
                  <a:pt x="5412185" y="3599102"/>
                </a:lnTo>
                <a:lnTo>
                  <a:pt x="0" y="35991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1847116" y="4162314"/>
            <a:ext cx="5412184" cy="3599103"/>
          </a:xfrm>
          <a:custGeom>
            <a:avLst/>
            <a:gdLst/>
            <a:ahLst/>
            <a:cxnLst/>
            <a:rect r="r" b="b" t="t" l="l"/>
            <a:pathLst>
              <a:path h="3599103" w="5412184">
                <a:moveTo>
                  <a:pt x="0" y="0"/>
                </a:moveTo>
                <a:lnTo>
                  <a:pt x="5412184" y="0"/>
                </a:lnTo>
                <a:lnTo>
                  <a:pt x="5412184" y="3599102"/>
                </a:lnTo>
                <a:lnTo>
                  <a:pt x="0" y="35991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98776" y="4162314"/>
            <a:ext cx="817216" cy="817216"/>
          </a:xfrm>
          <a:custGeom>
            <a:avLst/>
            <a:gdLst/>
            <a:ahLst/>
            <a:cxnLst/>
            <a:rect r="r" b="b" t="t" l="l"/>
            <a:pathLst>
              <a:path h="817216" w="817216">
                <a:moveTo>
                  <a:pt x="0" y="0"/>
                </a:moveTo>
                <a:lnTo>
                  <a:pt x="817216" y="0"/>
                </a:lnTo>
                <a:lnTo>
                  <a:pt x="817216" y="817216"/>
                </a:lnTo>
                <a:lnTo>
                  <a:pt x="0" y="817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649044" y="5095497"/>
            <a:ext cx="849858" cy="849858"/>
          </a:xfrm>
          <a:custGeom>
            <a:avLst/>
            <a:gdLst/>
            <a:ahLst/>
            <a:cxnLst/>
            <a:rect r="r" b="b" t="t" l="l"/>
            <a:pathLst>
              <a:path h="849858" w="849858">
                <a:moveTo>
                  <a:pt x="0" y="0"/>
                </a:moveTo>
                <a:lnTo>
                  <a:pt x="849858" y="0"/>
                </a:lnTo>
                <a:lnTo>
                  <a:pt x="849858" y="849858"/>
                </a:lnTo>
                <a:lnTo>
                  <a:pt x="0" y="8498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998776" y="5971406"/>
            <a:ext cx="880059" cy="880059"/>
          </a:xfrm>
          <a:custGeom>
            <a:avLst/>
            <a:gdLst/>
            <a:ahLst/>
            <a:cxnLst/>
            <a:rect r="r" b="b" t="t" l="l"/>
            <a:pathLst>
              <a:path h="880059" w="880059">
                <a:moveTo>
                  <a:pt x="0" y="0"/>
                </a:moveTo>
                <a:lnTo>
                  <a:pt x="880059" y="0"/>
                </a:lnTo>
                <a:lnTo>
                  <a:pt x="880059" y="880059"/>
                </a:lnTo>
                <a:lnTo>
                  <a:pt x="0" y="8800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644165" y="6929375"/>
            <a:ext cx="854737" cy="854737"/>
          </a:xfrm>
          <a:custGeom>
            <a:avLst/>
            <a:gdLst/>
            <a:ahLst/>
            <a:cxnLst/>
            <a:rect r="r" b="b" t="t" l="l"/>
            <a:pathLst>
              <a:path h="854737" w="854737">
                <a:moveTo>
                  <a:pt x="0" y="0"/>
                </a:moveTo>
                <a:lnTo>
                  <a:pt x="854737" y="0"/>
                </a:lnTo>
                <a:lnTo>
                  <a:pt x="854737" y="854738"/>
                </a:lnTo>
                <a:lnTo>
                  <a:pt x="0" y="8547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6410961" y="4134456"/>
            <a:ext cx="817216" cy="817216"/>
          </a:xfrm>
          <a:custGeom>
            <a:avLst/>
            <a:gdLst/>
            <a:ahLst/>
            <a:cxnLst/>
            <a:rect r="r" b="b" t="t" l="l"/>
            <a:pathLst>
              <a:path h="817216" w="817216">
                <a:moveTo>
                  <a:pt x="0" y="0"/>
                </a:moveTo>
                <a:lnTo>
                  <a:pt x="817216" y="0"/>
                </a:lnTo>
                <a:lnTo>
                  <a:pt x="817216" y="817216"/>
                </a:lnTo>
                <a:lnTo>
                  <a:pt x="0" y="817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7061229" y="5067640"/>
            <a:ext cx="849858" cy="849858"/>
          </a:xfrm>
          <a:custGeom>
            <a:avLst/>
            <a:gdLst/>
            <a:ahLst/>
            <a:cxnLst/>
            <a:rect r="r" b="b" t="t" l="l"/>
            <a:pathLst>
              <a:path h="849858" w="849858">
                <a:moveTo>
                  <a:pt x="0" y="0"/>
                </a:moveTo>
                <a:lnTo>
                  <a:pt x="849858" y="0"/>
                </a:lnTo>
                <a:lnTo>
                  <a:pt x="849858" y="849858"/>
                </a:lnTo>
                <a:lnTo>
                  <a:pt x="0" y="8498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6410961" y="5943548"/>
            <a:ext cx="880059" cy="880059"/>
          </a:xfrm>
          <a:custGeom>
            <a:avLst/>
            <a:gdLst/>
            <a:ahLst/>
            <a:cxnLst/>
            <a:rect r="r" b="b" t="t" l="l"/>
            <a:pathLst>
              <a:path h="880059" w="880059">
                <a:moveTo>
                  <a:pt x="0" y="0"/>
                </a:moveTo>
                <a:lnTo>
                  <a:pt x="880058" y="0"/>
                </a:lnTo>
                <a:lnTo>
                  <a:pt x="880058" y="880059"/>
                </a:lnTo>
                <a:lnTo>
                  <a:pt x="0" y="8800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7056349" y="6901517"/>
            <a:ext cx="854737" cy="854737"/>
          </a:xfrm>
          <a:custGeom>
            <a:avLst/>
            <a:gdLst/>
            <a:ahLst/>
            <a:cxnLst/>
            <a:rect r="r" b="b" t="t" l="l"/>
            <a:pathLst>
              <a:path h="854737" w="854737">
                <a:moveTo>
                  <a:pt x="0" y="0"/>
                </a:moveTo>
                <a:lnTo>
                  <a:pt x="854738" y="0"/>
                </a:lnTo>
                <a:lnTo>
                  <a:pt x="854738" y="854738"/>
                </a:lnTo>
                <a:lnTo>
                  <a:pt x="0" y="8547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1825862" y="4162314"/>
            <a:ext cx="817216" cy="817216"/>
          </a:xfrm>
          <a:custGeom>
            <a:avLst/>
            <a:gdLst/>
            <a:ahLst/>
            <a:cxnLst/>
            <a:rect r="r" b="b" t="t" l="l"/>
            <a:pathLst>
              <a:path h="817216" w="817216">
                <a:moveTo>
                  <a:pt x="0" y="0"/>
                </a:moveTo>
                <a:lnTo>
                  <a:pt x="817216" y="0"/>
                </a:lnTo>
                <a:lnTo>
                  <a:pt x="817216" y="817216"/>
                </a:lnTo>
                <a:lnTo>
                  <a:pt x="0" y="817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2476130" y="5095497"/>
            <a:ext cx="849858" cy="849858"/>
          </a:xfrm>
          <a:custGeom>
            <a:avLst/>
            <a:gdLst/>
            <a:ahLst/>
            <a:cxnLst/>
            <a:rect r="r" b="b" t="t" l="l"/>
            <a:pathLst>
              <a:path h="849858" w="849858">
                <a:moveTo>
                  <a:pt x="0" y="0"/>
                </a:moveTo>
                <a:lnTo>
                  <a:pt x="849858" y="0"/>
                </a:lnTo>
                <a:lnTo>
                  <a:pt x="849858" y="849858"/>
                </a:lnTo>
                <a:lnTo>
                  <a:pt x="0" y="8498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1825862" y="5971406"/>
            <a:ext cx="880059" cy="880059"/>
          </a:xfrm>
          <a:custGeom>
            <a:avLst/>
            <a:gdLst/>
            <a:ahLst/>
            <a:cxnLst/>
            <a:rect r="r" b="b" t="t" l="l"/>
            <a:pathLst>
              <a:path h="880059" w="880059">
                <a:moveTo>
                  <a:pt x="0" y="0"/>
                </a:moveTo>
                <a:lnTo>
                  <a:pt x="880059" y="0"/>
                </a:lnTo>
                <a:lnTo>
                  <a:pt x="880059" y="880059"/>
                </a:lnTo>
                <a:lnTo>
                  <a:pt x="0" y="8800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2471250" y="6929375"/>
            <a:ext cx="854737" cy="854737"/>
          </a:xfrm>
          <a:custGeom>
            <a:avLst/>
            <a:gdLst/>
            <a:ahLst/>
            <a:cxnLst/>
            <a:rect r="r" b="b" t="t" l="l"/>
            <a:pathLst>
              <a:path h="854737" w="854737">
                <a:moveTo>
                  <a:pt x="0" y="0"/>
                </a:moveTo>
                <a:lnTo>
                  <a:pt x="854738" y="0"/>
                </a:lnTo>
                <a:lnTo>
                  <a:pt x="854738" y="854738"/>
                </a:lnTo>
                <a:lnTo>
                  <a:pt x="0" y="8547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069651" y="3170991"/>
            <a:ext cx="4322818" cy="648423"/>
          </a:xfrm>
          <a:custGeom>
            <a:avLst/>
            <a:gdLst/>
            <a:ahLst/>
            <a:cxnLst/>
            <a:rect r="r" b="b" t="t" l="l"/>
            <a:pathLst>
              <a:path h="648423" w="4322818">
                <a:moveTo>
                  <a:pt x="0" y="0"/>
                </a:moveTo>
                <a:lnTo>
                  <a:pt x="4322819" y="0"/>
                </a:lnTo>
                <a:lnTo>
                  <a:pt x="4322819" y="648423"/>
                </a:lnTo>
                <a:lnTo>
                  <a:pt x="0" y="64842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2082584" y="885825"/>
            <a:ext cx="14122832" cy="12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MODULES WITH FEATURES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498902" y="4416299"/>
            <a:ext cx="146431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Admin</a:t>
            </a:r>
            <a:r>
              <a:rPr lang="en-US" b="true" sz="19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 login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498902" y="6339333"/>
            <a:ext cx="228634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User mana</a:t>
            </a:r>
            <a:r>
              <a:rPr lang="en-US" b="true" sz="19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gement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543129" y="7299770"/>
            <a:ext cx="35780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Prediction r</a:t>
            </a:r>
            <a:r>
              <a:rPr lang="en-US" b="true" sz="19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ecord monitoring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543129" y="5395405"/>
            <a:ext cx="355976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Dashb</a:t>
            </a:r>
            <a:r>
              <a:rPr lang="en-US" b="true" sz="18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oard &amp; system statistics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483718" y="4416299"/>
            <a:ext cx="35182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User registration and</a:t>
            </a:r>
            <a:r>
              <a:rPr lang="en-US" b="true" sz="19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 login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075797" y="5378895"/>
            <a:ext cx="207655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User dashboard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682880" y="6339333"/>
            <a:ext cx="246947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Retinal image upload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8010908" y="7281673"/>
            <a:ext cx="336161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Prediction results and history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076367" y="4432809"/>
            <a:ext cx="209423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R</a:t>
            </a:r>
            <a:r>
              <a:rPr lang="en-US" b="true" sz="18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adiologist Login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506093" y="5395405"/>
            <a:ext cx="209423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Verify Images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3096446" y="6355843"/>
            <a:ext cx="256822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DR severity prediction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607269" y="7281673"/>
            <a:ext cx="256822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Final Analysis Submit</a:t>
            </a:r>
          </a:p>
        </p:txBody>
      </p:sp>
      <p:sp>
        <p:nvSpPr>
          <p:cNvPr name="Freeform 80" id="80"/>
          <p:cNvSpPr/>
          <p:nvPr/>
        </p:nvSpPr>
        <p:spPr>
          <a:xfrm flipH="false" flipV="false" rot="0">
            <a:off x="6679188" y="3170991"/>
            <a:ext cx="4322818" cy="648423"/>
          </a:xfrm>
          <a:custGeom>
            <a:avLst/>
            <a:gdLst/>
            <a:ahLst/>
            <a:cxnLst/>
            <a:rect r="r" b="b" t="t" l="l"/>
            <a:pathLst>
              <a:path h="648423" w="4322818">
                <a:moveTo>
                  <a:pt x="0" y="0"/>
                </a:moveTo>
                <a:lnTo>
                  <a:pt x="4322818" y="0"/>
                </a:lnTo>
                <a:lnTo>
                  <a:pt x="4322818" y="648423"/>
                </a:lnTo>
                <a:lnTo>
                  <a:pt x="0" y="64842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11852674" y="3170991"/>
            <a:ext cx="4322818" cy="648423"/>
          </a:xfrm>
          <a:custGeom>
            <a:avLst/>
            <a:gdLst/>
            <a:ahLst/>
            <a:cxnLst/>
            <a:rect r="r" b="b" t="t" l="l"/>
            <a:pathLst>
              <a:path h="648423" w="4322818">
                <a:moveTo>
                  <a:pt x="0" y="0"/>
                </a:moveTo>
                <a:lnTo>
                  <a:pt x="4322818" y="0"/>
                </a:lnTo>
                <a:lnTo>
                  <a:pt x="4322818" y="648423"/>
                </a:lnTo>
                <a:lnTo>
                  <a:pt x="0" y="64842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2259022" y="3314545"/>
            <a:ext cx="170419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Admin Module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8075797" y="3314545"/>
            <a:ext cx="170419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User </a:t>
            </a:r>
            <a:r>
              <a:rPr lang="en-US" b="true" sz="18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Module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3187184" y="3314545"/>
            <a:ext cx="224438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Rediologist </a:t>
            </a:r>
            <a:r>
              <a:rPr lang="en-US" b="true" sz="18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Module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2" id="42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1" id="51"/>
          <p:cNvSpPr/>
          <p:nvPr/>
        </p:nvSpPr>
        <p:spPr>
          <a:xfrm flipH="false" flipV="false" rot="0">
            <a:off x="1802347" y="4229583"/>
            <a:ext cx="5622772" cy="3739143"/>
          </a:xfrm>
          <a:custGeom>
            <a:avLst/>
            <a:gdLst/>
            <a:ahLst/>
            <a:cxnLst/>
            <a:rect r="r" b="b" t="t" l="l"/>
            <a:pathLst>
              <a:path h="3739143" w="5622772">
                <a:moveTo>
                  <a:pt x="0" y="0"/>
                </a:moveTo>
                <a:lnTo>
                  <a:pt x="5622771" y="0"/>
                </a:lnTo>
                <a:lnTo>
                  <a:pt x="5622771" y="3739143"/>
                </a:lnTo>
                <a:lnTo>
                  <a:pt x="0" y="37391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780266" y="4229583"/>
            <a:ext cx="849014" cy="849014"/>
          </a:xfrm>
          <a:custGeom>
            <a:avLst/>
            <a:gdLst/>
            <a:ahLst/>
            <a:cxnLst/>
            <a:rect r="r" b="b" t="t" l="l"/>
            <a:pathLst>
              <a:path h="849014" w="849014">
                <a:moveTo>
                  <a:pt x="0" y="0"/>
                </a:moveTo>
                <a:lnTo>
                  <a:pt x="849013" y="0"/>
                </a:lnTo>
                <a:lnTo>
                  <a:pt x="849013" y="849013"/>
                </a:lnTo>
                <a:lnTo>
                  <a:pt x="0" y="8490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455835" y="5199076"/>
            <a:ext cx="882926" cy="882926"/>
          </a:xfrm>
          <a:custGeom>
            <a:avLst/>
            <a:gdLst/>
            <a:ahLst/>
            <a:cxnLst/>
            <a:rect r="r" b="b" t="t" l="l"/>
            <a:pathLst>
              <a:path h="882926" w="882926">
                <a:moveTo>
                  <a:pt x="0" y="0"/>
                </a:moveTo>
                <a:lnTo>
                  <a:pt x="882926" y="0"/>
                </a:lnTo>
                <a:lnTo>
                  <a:pt x="882926" y="882926"/>
                </a:lnTo>
                <a:lnTo>
                  <a:pt x="0" y="8829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780266" y="6109067"/>
            <a:ext cx="914302" cy="914302"/>
          </a:xfrm>
          <a:custGeom>
            <a:avLst/>
            <a:gdLst/>
            <a:ahLst/>
            <a:cxnLst/>
            <a:rect r="r" b="b" t="t" l="l"/>
            <a:pathLst>
              <a:path h="914302" w="914302">
                <a:moveTo>
                  <a:pt x="0" y="0"/>
                </a:moveTo>
                <a:lnTo>
                  <a:pt x="914301" y="0"/>
                </a:lnTo>
                <a:lnTo>
                  <a:pt x="914301" y="914301"/>
                </a:lnTo>
                <a:lnTo>
                  <a:pt x="0" y="9143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2450766" y="7104310"/>
            <a:ext cx="887995" cy="887995"/>
          </a:xfrm>
          <a:custGeom>
            <a:avLst/>
            <a:gdLst/>
            <a:ahLst/>
            <a:cxnLst/>
            <a:rect r="r" b="b" t="t" l="l"/>
            <a:pathLst>
              <a:path h="887995" w="887995">
                <a:moveTo>
                  <a:pt x="0" y="0"/>
                </a:moveTo>
                <a:lnTo>
                  <a:pt x="887995" y="0"/>
                </a:lnTo>
                <a:lnTo>
                  <a:pt x="887995" y="887995"/>
                </a:lnTo>
                <a:lnTo>
                  <a:pt x="0" y="887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808121" y="3199688"/>
            <a:ext cx="4491019" cy="673653"/>
          </a:xfrm>
          <a:custGeom>
            <a:avLst/>
            <a:gdLst/>
            <a:ahLst/>
            <a:cxnLst/>
            <a:rect r="r" b="b" t="t" l="l"/>
            <a:pathLst>
              <a:path h="673653" w="4491019">
                <a:moveTo>
                  <a:pt x="0" y="0"/>
                </a:moveTo>
                <a:lnTo>
                  <a:pt x="4491019" y="0"/>
                </a:lnTo>
                <a:lnTo>
                  <a:pt x="4491019" y="673652"/>
                </a:lnTo>
                <a:lnTo>
                  <a:pt x="0" y="6736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7600184" y="3813421"/>
            <a:ext cx="8112591" cy="901529"/>
          </a:xfrm>
          <a:custGeom>
            <a:avLst/>
            <a:gdLst/>
            <a:ahLst/>
            <a:cxnLst/>
            <a:rect r="r" b="b" t="t" l="l"/>
            <a:pathLst>
              <a:path h="901529" w="8112591">
                <a:moveTo>
                  <a:pt x="0" y="0"/>
                </a:moveTo>
                <a:lnTo>
                  <a:pt x="8112591" y="0"/>
                </a:lnTo>
                <a:lnTo>
                  <a:pt x="8112591" y="901530"/>
                </a:lnTo>
                <a:lnTo>
                  <a:pt x="0" y="90153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0247" t="0" r="-10247" b="-73488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2082584" y="885825"/>
            <a:ext cx="14122832" cy="12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FUNCTIONALITIES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891536" y="4451828"/>
            <a:ext cx="3407604" cy="35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Adm</a:t>
            </a: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in login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360930" y="5389750"/>
            <a:ext cx="3864703" cy="35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Dashboard &amp; system statistics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214289" y="6390895"/>
            <a:ext cx="2762099" cy="35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User management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338761" y="7340781"/>
            <a:ext cx="3794131" cy="35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Prediction record monitoring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072330" y="3311054"/>
            <a:ext cx="2220952" cy="41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  <a:spcBef>
                <a:spcPct val="0"/>
              </a:spcBef>
            </a:pPr>
            <a:r>
              <a:rPr lang="en-US" b="true" sz="2497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Admin </a:t>
            </a:r>
            <a:r>
              <a:rPr lang="en-US" b="true" sz="2497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Module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7615618" y="4846395"/>
            <a:ext cx="8112591" cy="1035626"/>
          </a:xfrm>
          <a:custGeom>
            <a:avLst/>
            <a:gdLst/>
            <a:ahLst/>
            <a:cxnLst/>
            <a:rect r="r" b="b" t="t" l="l"/>
            <a:pathLst>
              <a:path h="1035626" w="8112591">
                <a:moveTo>
                  <a:pt x="0" y="0"/>
                </a:moveTo>
                <a:lnTo>
                  <a:pt x="8112592" y="0"/>
                </a:lnTo>
                <a:lnTo>
                  <a:pt x="8112592" y="1035625"/>
                </a:lnTo>
                <a:lnTo>
                  <a:pt x="0" y="1035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7591" t="0" r="-7591" b="-44365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7600184" y="6034420"/>
            <a:ext cx="8112591" cy="906959"/>
          </a:xfrm>
          <a:custGeom>
            <a:avLst/>
            <a:gdLst/>
            <a:ahLst/>
            <a:cxnLst/>
            <a:rect r="r" b="b" t="t" l="l"/>
            <a:pathLst>
              <a:path h="906959" w="8112591">
                <a:moveTo>
                  <a:pt x="0" y="0"/>
                </a:moveTo>
                <a:lnTo>
                  <a:pt x="8112591" y="0"/>
                </a:lnTo>
                <a:lnTo>
                  <a:pt x="8112591" y="906960"/>
                </a:lnTo>
                <a:lnTo>
                  <a:pt x="0" y="90696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445" t="0" r="-3445" b="-52979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7600184" y="7093780"/>
            <a:ext cx="8112591" cy="898525"/>
          </a:xfrm>
          <a:custGeom>
            <a:avLst/>
            <a:gdLst/>
            <a:ahLst/>
            <a:cxnLst/>
            <a:rect r="r" b="b" t="t" l="l"/>
            <a:pathLst>
              <a:path h="898525" w="8112591">
                <a:moveTo>
                  <a:pt x="0" y="0"/>
                </a:moveTo>
                <a:lnTo>
                  <a:pt x="8112591" y="0"/>
                </a:lnTo>
                <a:lnTo>
                  <a:pt x="8112591" y="898525"/>
                </a:lnTo>
                <a:lnTo>
                  <a:pt x="0" y="898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8848" t="0" r="-8848" b="-70026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7762786" y="4100269"/>
            <a:ext cx="781825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S</a:t>
            </a: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ecure access to the administration dashboard.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600184" y="5105400"/>
            <a:ext cx="811259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V</a:t>
            </a: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iew an overview of system activity and usage.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600184" y="6262475"/>
            <a:ext cx="811259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View, manage,</a:t>
            </a: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 and control registered user accounts.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600184" y="7131880"/>
            <a:ext cx="811259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Mon</a:t>
            </a:r>
            <a:r>
              <a:rPr lang="en-US" b="true" sz="23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itor image-analysis records and generated Al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2" id="42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1" id="51"/>
          <p:cNvSpPr/>
          <p:nvPr/>
        </p:nvSpPr>
        <p:spPr>
          <a:xfrm flipH="false" flipV="false" rot="0">
            <a:off x="1802347" y="4229583"/>
            <a:ext cx="5622772" cy="3739143"/>
          </a:xfrm>
          <a:custGeom>
            <a:avLst/>
            <a:gdLst/>
            <a:ahLst/>
            <a:cxnLst/>
            <a:rect r="r" b="b" t="t" l="l"/>
            <a:pathLst>
              <a:path h="3739143" w="5622772">
                <a:moveTo>
                  <a:pt x="0" y="0"/>
                </a:moveTo>
                <a:lnTo>
                  <a:pt x="5622771" y="0"/>
                </a:lnTo>
                <a:lnTo>
                  <a:pt x="5622771" y="3739143"/>
                </a:lnTo>
                <a:lnTo>
                  <a:pt x="0" y="37391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780266" y="4229583"/>
            <a:ext cx="849014" cy="849014"/>
          </a:xfrm>
          <a:custGeom>
            <a:avLst/>
            <a:gdLst/>
            <a:ahLst/>
            <a:cxnLst/>
            <a:rect r="r" b="b" t="t" l="l"/>
            <a:pathLst>
              <a:path h="849014" w="849014">
                <a:moveTo>
                  <a:pt x="0" y="0"/>
                </a:moveTo>
                <a:lnTo>
                  <a:pt x="849013" y="0"/>
                </a:lnTo>
                <a:lnTo>
                  <a:pt x="849013" y="849013"/>
                </a:lnTo>
                <a:lnTo>
                  <a:pt x="0" y="8490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455835" y="5199076"/>
            <a:ext cx="882926" cy="882926"/>
          </a:xfrm>
          <a:custGeom>
            <a:avLst/>
            <a:gdLst/>
            <a:ahLst/>
            <a:cxnLst/>
            <a:rect r="r" b="b" t="t" l="l"/>
            <a:pathLst>
              <a:path h="882926" w="882926">
                <a:moveTo>
                  <a:pt x="0" y="0"/>
                </a:moveTo>
                <a:lnTo>
                  <a:pt x="882926" y="0"/>
                </a:lnTo>
                <a:lnTo>
                  <a:pt x="882926" y="882926"/>
                </a:lnTo>
                <a:lnTo>
                  <a:pt x="0" y="8829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780266" y="6109067"/>
            <a:ext cx="914302" cy="914302"/>
          </a:xfrm>
          <a:custGeom>
            <a:avLst/>
            <a:gdLst/>
            <a:ahLst/>
            <a:cxnLst/>
            <a:rect r="r" b="b" t="t" l="l"/>
            <a:pathLst>
              <a:path h="914302" w="914302">
                <a:moveTo>
                  <a:pt x="0" y="0"/>
                </a:moveTo>
                <a:lnTo>
                  <a:pt x="914301" y="0"/>
                </a:lnTo>
                <a:lnTo>
                  <a:pt x="914301" y="914301"/>
                </a:lnTo>
                <a:lnTo>
                  <a:pt x="0" y="9143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2450766" y="7104310"/>
            <a:ext cx="887995" cy="887995"/>
          </a:xfrm>
          <a:custGeom>
            <a:avLst/>
            <a:gdLst/>
            <a:ahLst/>
            <a:cxnLst/>
            <a:rect r="r" b="b" t="t" l="l"/>
            <a:pathLst>
              <a:path h="887995" w="887995">
                <a:moveTo>
                  <a:pt x="0" y="0"/>
                </a:moveTo>
                <a:lnTo>
                  <a:pt x="887995" y="0"/>
                </a:lnTo>
                <a:lnTo>
                  <a:pt x="887995" y="887995"/>
                </a:lnTo>
                <a:lnTo>
                  <a:pt x="0" y="887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808121" y="3199688"/>
            <a:ext cx="4491019" cy="673653"/>
          </a:xfrm>
          <a:custGeom>
            <a:avLst/>
            <a:gdLst/>
            <a:ahLst/>
            <a:cxnLst/>
            <a:rect r="r" b="b" t="t" l="l"/>
            <a:pathLst>
              <a:path h="673653" w="4491019">
                <a:moveTo>
                  <a:pt x="0" y="0"/>
                </a:moveTo>
                <a:lnTo>
                  <a:pt x="4491019" y="0"/>
                </a:lnTo>
                <a:lnTo>
                  <a:pt x="4491019" y="673652"/>
                </a:lnTo>
                <a:lnTo>
                  <a:pt x="0" y="6736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7600184" y="3813421"/>
            <a:ext cx="8112591" cy="901529"/>
          </a:xfrm>
          <a:custGeom>
            <a:avLst/>
            <a:gdLst/>
            <a:ahLst/>
            <a:cxnLst/>
            <a:rect r="r" b="b" t="t" l="l"/>
            <a:pathLst>
              <a:path h="901529" w="8112591">
                <a:moveTo>
                  <a:pt x="0" y="0"/>
                </a:moveTo>
                <a:lnTo>
                  <a:pt x="8112591" y="0"/>
                </a:lnTo>
                <a:lnTo>
                  <a:pt x="8112591" y="901530"/>
                </a:lnTo>
                <a:lnTo>
                  <a:pt x="0" y="90153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0247" t="0" r="-10247" b="-73488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2082584" y="885825"/>
            <a:ext cx="14122832" cy="12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FUNCTIONALITIES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891536" y="4451828"/>
            <a:ext cx="3407604" cy="35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User re</a:t>
            </a: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gistration and login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842252" y="5438278"/>
            <a:ext cx="2598472" cy="35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User dashboard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214289" y="6424902"/>
            <a:ext cx="2762099" cy="35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Retinal image upload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338761" y="7340781"/>
            <a:ext cx="3794131" cy="35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Prediction results and history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072330" y="3311054"/>
            <a:ext cx="1962601" cy="41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  <a:spcBef>
                <a:spcPct val="0"/>
              </a:spcBef>
            </a:pPr>
            <a:r>
              <a:rPr lang="en-US" b="true" sz="2497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User </a:t>
            </a:r>
            <a:r>
              <a:rPr lang="en-US" b="true" sz="2497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Module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7615618" y="4846395"/>
            <a:ext cx="8112591" cy="1035626"/>
          </a:xfrm>
          <a:custGeom>
            <a:avLst/>
            <a:gdLst/>
            <a:ahLst/>
            <a:cxnLst/>
            <a:rect r="r" b="b" t="t" l="l"/>
            <a:pathLst>
              <a:path h="1035626" w="8112591">
                <a:moveTo>
                  <a:pt x="0" y="0"/>
                </a:moveTo>
                <a:lnTo>
                  <a:pt x="8112592" y="0"/>
                </a:lnTo>
                <a:lnTo>
                  <a:pt x="8112592" y="1035625"/>
                </a:lnTo>
                <a:lnTo>
                  <a:pt x="0" y="1035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7591" t="0" r="-7591" b="-44365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7600184" y="6034420"/>
            <a:ext cx="8112591" cy="906959"/>
          </a:xfrm>
          <a:custGeom>
            <a:avLst/>
            <a:gdLst/>
            <a:ahLst/>
            <a:cxnLst/>
            <a:rect r="r" b="b" t="t" l="l"/>
            <a:pathLst>
              <a:path h="906959" w="8112591">
                <a:moveTo>
                  <a:pt x="0" y="0"/>
                </a:moveTo>
                <a:lnTo>
                  <a:pt x="8112591" y="0"/>
                </a:lnTo>
                <a:lnTo>
                  <a:pt x="8112591" y="906960"/>
                </a:lnTo>
                <a:lnTo>
                  <a:pt x="0" y="90696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445" t="0" r="-3445" b="-52979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7600184" y="7093780"/>
            <a:ext cx="8112591" cy="898525"/>
          </a:xfrm>
          <a:custGeom>
            <a:avLst/>
            <a:gdLst/>
            <a:ahLst/>
            <a:cxnLst/>
            <a:rect r="r" b="b" t="t" l="l"/>
            <a:pathLst>
              <a:path h="898525" w="8112591">
                <a:moveTo>
                  <a:pt x="0" y="0"/>
                </a:moveTo>
                <a:lnTo>
                  <a:pt x="8112591" y="0"/>
                </a:lnTo>
                <a:lnTo>
                  <a:pt x="8112591" y="898525"/>
                </a:lnTo>
                <a:lnTo>
                  <a:pt x="0" y="898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8848" t="0" r="-8848" b="-70026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7762786" y="4100269"/>
            <a:ext cx="781825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Create an account and s</a:t>
            </a: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ecurely access the system.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600184" y="5105400"/>
            <a:ext cx="811259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Acc</a:t>
            </a: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ess image analysis and previous results.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600184" y="6262475"/>
            <a:ext cx="811259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Upload</a:t>
            </a: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 a retinal fundus image for AI analysis.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600184" y="7131880"/>
            <a:ext cx="8112591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V</a:t>
            </a:r>
            <a:r>
              <a:rPr lang="en-US" b="true" sz="22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iew predicted DR severity, class probabilities, Grad-CAM visualizations, and previous analysis records.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2" id="42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1" id="51"/>
          <p:cNvSpPr/>
          <p:nvPr/>
        </p:nvSpPr>
        <p:spPr>
          <a:xfrm flipH="false" flipV="false" rot="0">
            <a:off x="1802347" y="4229583"/>
            <a:ext cx="5622772" cy="3739143"/>
          </a:xfrm>
          <a:custGeom>
            <a:avLst/>
            <a:gdLst/>
            <a:ahLst/>
            <a:cxnLst/>
            <a:rect r="r" b="b" t="t" l="l"/>
            <a:pathLst>
              <a:path h="3739143" w="5622772">
                <a:moveTo>
                  <a:pt x="0" y="0"/>
                </a:moveTo>
                <a:lnTo>
                  <a:pt x="5622771" y="0"/>
                </a:lnTo>
                <a:lnTo>
                  <a:pt x="5622771" y="3739143"/>
                </a:lnTo>
                <a:lnTo>
                  <a:pt x="0" y="37391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780266" y="4229583"/>
            <a:ext cx="849014" cy="849014"/>
          </a:xfrm>
          <a:custGeom>
            <a:avLst/>
            <a:gdLst/>
            <a:ahLst/>
            <a:cxnLst/>
            <a:rect r="r" b="b" t="t" l="l"/>
            <a:pathLst>
              <a:path h="849014" w="849014">
                <a:moveTo>
                  <a:pt x="0" y="0"/>
                </a:moveTo>
                <a:lnTo>
                  <a:pt x="849013" y="0"/>
                </a:lnTo>
                <a:lnTo>
                  <a:pt x="849013" y="849013"/>
                </a:lnTo>
                <a:lnTo>
                  <a:pt x="0" y="8490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455835" y="5199076"/>
            <a:ext cx="882926" cy="882926"/>
          </a:xfrm>
          <a:custGeom>
            <a:avLst/>
            <a:gdLst/>
            <a:ahLst/>
            <a:cxnLst/>
            <a:rect r="r" b="b" t="t" l="l"/>
            <a:pathLst>
              <a:path h="882926" w="882926">
                <a:moveTo>
                  <a:pt x="0" y="0"/>
                </a:moveTo>
                <a:lnTo>
                  <a:pt x="882926" y="0"/>
                </a:lnTo>
                <a:lnTo>
                  <a:pt x="882926" y="882926"/>
                </a:lnTo>
                <a:lnTo>
                  <a:pt x="0" y="8829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780266" y="6109067"/>
            <a:ext cx="914302" cy="914302"/>
          </a:xfrm>
          <a:custGeom>
            <a:avLst/>
            <a:gdLst/>
            <a:ahLst/>
            <a:cxnLst/>
            <a:rect r="r" b="b" t="t" l="l"/>
            <a:pathLst>
              <a:path h="914302" w="914302">
                <a:moveTo>
                  <a:pt x="0" y="0"/>
                </a:moveTo>
                <a:lnTo>
                  <a:pt x="914301" y="0"/>
                </a:lnTo>
                <a:lnTo>
                  <a:pt x="914301" y="914301"/>
                </a:lnTo>
                <a:lnTo>
                  <a:pt x="0" y="9143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2450766" y="7104310"/>
            <a:ext cx="887995" cy="887995"/>
          </a:xfrm>
          <a:custGeom>
            <a:avLst/>
            <a:gdLst/>
            <a:ahLst/>
            <a:cxnLst/>
            <a:rect r="r" b="b" t="t" l="l"/>
            <a:pathLst>
              <a:path h="887995" w="887995">
                <a:moveTo>
                  <a:pt x="0" y="0"/>
                </a:moveTo>
                <a:lnTo>
                  <a:pt x="887995" y="0"/>
                </a:lnTo>
                <a:lnTo>
                  <a:pt x="887995" y="887995"/>
                </a:lnTo>
                <a:lnTo>
                  <a:pt x="0" y="887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808121" y="3199688"/>
            <a:ext cx="4491019" cy="673653"/>
          </a:xfrm>
          <a:custGeom>
            <a:avLst/>
            <a:gdLst/>
            <a:ahLst/>
            <a:cxnLst/>
            <a:rect r="r" b="b" t="t" l="l"/>
            <a:pathLst>
              <a:path h="673653" w="4491019">
                <a:moveTo>
                  <a:pt x="0" y="0"/>
                </a:moveTo>
                <a:lnTo>
                  <a:pt x="4491019" y="0"/>
                </a:lnTo>
                <a:lnTo>
                  <a:pt x="4491019" y="673652"/>
                </a:lnTo>
                <a:lnTo>
                  <a:pt x="0" y="6736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7600184" y="3813421"/>
            <a:ext cx="8112591" cy="901529"/>
          </a:xfrm>
          <a:custGeom>
            <a:avLst/>
            <a:gdLst/>
            <a:ahLst/>
            <a:cxnLst/>
            <a:rect r="r" b="b" t="t" l="l"/>
            <a:pathLst>
              <a:path h="901529" w="8112591">
                <a:moveTo>
                  <a:pt x="0" y="0"/>
                </a:moveTo>
                <a:lnTo>
                  <a:pt x="8112591" y="0"/>
                </a:lnTo>
                <a:lnTo>
                  <a:pt x="8112591" y="901530"/>
                </a:lnTo>
                <a:lnTo>
                  <a:pt x="0" y="90153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0247" t="0" r="-10247" b="-73488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2082584" y="885825"/>
            <a:ext cx="14122832" cy="12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FUNCTIONALITIES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215526" y="4512690"/>
            <a:ext cx="2293149" cy="35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R</a:t>
            </a: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adiologist Login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877205" y="5438278"/>
            <a:ext cx="2175716" cy="35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Verify Images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209197" y="6386802"/>
            <a:ext cx="2809071" cy="35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DR severity prediction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560527" y="7346046"/>
            <a:ext cx="2809071" cy="35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073">
                <a:solidFill>
                  <a:srgbClr val="3E526A"/>
                </a:solidFill>
                <a:latin typeface="Muli Bold"/>
                <a:ea typeface="Muli Bold"/>
                <a:cs typeface="Muli Bold"/>
                <a:sym typeface="Muli Bold"/>
              </a:rPr>
              <a:t>Final Analysis Submit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485169" y="3327636"/>
            <a:ext cx="3136922" cy="436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  <a:spcBef>
                <a:spcPct val="0"/>
              </a:spcBef>
            </a:pPr>
            <a:r>
              <a:rPr lang="en-US" b="true" sz="2597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Rediologist </a:t>
            </a:r>
            <a:r>
              <a:rPr lang="en-US" b="true" sz="2597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Module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7615618" y="4846395"/>
            <a:ext cx="8112591" cy="1035626"/>
          </a:xfrm>
          <a:custGeom>
            <a:avLst/>
            <a:gdLst/>
            <a:ahLst/>
            <a:cxnLst/>
            <a:rect r="r" b="b" t="t" l="l"/>
            <a:pathLst>
              <a:path h="1035626" w="8112591">
                <a:moveTo>
                  <a:pt x="0" y="0"/>
                </a:moveTo>
                <a:lnTo>
                  <a:pt x="8112592" y="0"/>
                </a:lnTo>
                <a:lnTo>
                  <a:pt x="8112592" y="1035625"/>
                </a:lnTo>
                <a:lnTo>
                  <a:pt x="0" y="1035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7591" t="0" r="-7591" b="-44365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7600184" y="6034420"/>
            <a:ext cx="8112591" cy="906959"/>
          </a:xfrm>
          <a:custGeom>
            <a:avLst/>
            <a:gdLst/>
            <a:ahLst/>
            <a:cxnLst/>
            <a:rect r="r" b="b" t="t" l="l"/>
            <a:pathLst>
              <a:path h="906959" w="8112591">
                <a:moveTo>
                  <a:pt x="0" y="0"/>
                </a:moveTo>
                <a:lnTo>
                  <a:pt x="8112591" y="0"/>
                </a:lnTo>
                <a:lnTo>
                  <a:pt x="8112591" y="906960"/>
                </a:lnTo>
                <a:lnTo>
                  <a:pt x="0" y="90696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445" t="0" r="-3445" b="-52979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7600184" y="7093780"/>
            <a:ext cx="8112591" cy="898525"/>
          </a:xfrm>
          <a:custGeom>
            <a:avLst/>
            <a:gdLst/>
            <a:ahLst/>
            <a:cxnLst/>
            <a:rect r="r" b="b" t="t" l="l"/>
            <a:pathLst>
              <a:path h="898525" w="8112591">
                <a:moveTo>
                  <a:pt x="0" y="0"/>
                </a:moveTo>
                <a:lnTo>
                  <a:pt x="8112591" y="0"/>
                </a:lnTo>
                <a:lnTo>
                  <a:pt x="8112591" y="898525"/>
                </a:lnTo>
                <a:lnTo>
                  <a:pt x="0" y="898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8848" t="0" r="-8848" b="-70026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8231381" y="4100269"/>
            <a:ext cx="685019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Secure access to the radiologist dashboard.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600184" y="4897770"/>
            <a:ext cx="8112591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Review uploaded retinal images for quality, clarity, and suitability for analysis.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600184" y="6043400"/>
            <a:ext cx="8112591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Review the AI-generated severity category, probabilities, and visual explanation.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600184" y="7141405"/>
            <a:ext cx="8112591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Submit the radiologist's final assessment and save the reviewed result.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2" id="42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1" id="51"/>
          <p:cNvSpPr/>
          <p:nvPr/>
        </p:nvSpPr>
        <p:spPr>
          <a:xfrm flipH="false" flipV="false" rot="0">
            <a:off x="3237154" y="2842592"/>
            <a:ext cx="12184889" cy="5787822"/>
          </a:xfrm>
          <a:custGeom>
            <a:avLst/>
            <a:gdLst/>
            <a:ahLst/>
            <a:cxnLst/>
            <a:rect r="r" b="b" t="t" l="l"/>
            <a:pathLst>
              <a:path h="5787822" w="12184889">
                <a:moveTo>
                  <a:pt x="0" y="0"/>
                </a:moveTo>
                <a:lnTo>
                  <a:pt x="12184890" y="0"/>
                </a:lnTo>
                <a:lnTo>
                  <a:pt x="12184890" y="5787822"/>
                </a:lnTo>
                <a:lnTo>
                  <a:pt x="0" y="5787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2082584" y="885825"/>
            <a:ext cx="14122832" cy="12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USERS OF THE SYSTEM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892372" y="5358677"/>
            <a:ext cx="3854884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u="sng">
                <a:solidFill>
                  <a:srgbClr val="3B414D"/>
                </a:solidFill>
                <a:latin typeface="Muli Bold"/>
                <a:ea typeface="Muli Bold"/>
                <a:cs typeface="Muli Bold"/>
                <a:sym typeface="Muli Bold"/>
              </a:rPr>
              <a:t>RetinaSense  AI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190054" y="3418081"/>
            <a:ext cx="3649365" cy="68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</a:pPr>
            <a:r>
              <a:rPr lang="en-US" b="true" sz="4055" u="sng">
                <a:solidFill>
                  <a:srgbClr val="3B4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Administrator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000883" y="5350552"/>
            <a:ext cx="4027706" cy="68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</a:pPr>
            <a:r>
              <a:rPr lang="en-US" b="true" sz="4055" u="sng">
                <a:solidFill>
                  <a:srgbClr val="3B4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Registered User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366844" y="7285903"/>
            <a:ext cx="2940150" cy="68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</a:pPr>
            <a:r>
              <a:rPr lang="en-US" b="true" sz="4055" u="sng">
                <a:solidFill>
                  <a:srgbClr val="3B4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Radiologist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2" id="42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1" id="51"/>
          <p:cNvSpPr/>
          <p:nvPr/>
        </p:nvSpPr>
        <p:spPr>
          <a:xfrm flipH="false" flipV="false" rot="0">
            <a:off x="2967753" y="1943090"/>
            <a:ext cx="11571431" cy="7357051"/>
          </a:xfrm>
          <a:custGeom>
            <a:avLst/>
            <a:gdLst/>
            <a:ahLst/>
            <a:cxnLst/>
            <a:rect r="r" b="b" t="t" l="l"/>
            <a:pathLst>
              <a:path h="7357051" w="11571431">
                <a:moveTo>
                  <a:pt x="0" y="0"/>
                </a:moveTo>
                <a:lnTo>
                  <a:pt x="11571431" y="0"/>
                </a:lnTo>
                <a:lnTo>
                  <a:pt x="11571431" y="7357051"/>
                </a:lnTo>
                <a:lnTo>
                  <a:pt x="0" y="7357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748" r="0" b="-10213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2255727" y="914400"/>
            <a:ext cx="12995484" cy="102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E52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 DIAGRAM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name="Group 28" id="28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0">
            <a:off x="-1957407" y="-931287"/>
            <a:ext cx="7442351" cy="7080653"/>
            <a:chOff x="0" y="0"/>
            <a:chExt cx="9923135" cy="9440871"/>
          </a:xfrm>
        </p:grpSpPr>
        <p:grpSp>
          <p:nvGrpSpPr>
            <p:cNvPr name="Group 47" id="47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65" id="65"/>
          <p:cNvSpPr txBox="true"/>
          <p:nvPr/>
        </p:nvSpPr>
        <p:spPr>
          <a:xfrm rot="0">
            <a:off x="4881802" y="3947133"/>
            <a:ext cx="8524397" cy="169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34"/>
              </a:lnSpc>
            </a:pPr>
            <a:r>
              <a:rPr lang="en-US" b="true" sz="9953" u="sng">
                <a:solidFill>
                  <a:srgbClr val="3B4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DAHYFvzqYRw</dc:identifier>
  <dcterms:modified xsi:type="dcterms:W3CDTF">2011-08-01T06:04:30Z</dcterms:modified>
  <cp:revision>1</cp:revision>
  <dc:title>RetinaSense AI</dc:title>
</cp:coreProperties>
</file>